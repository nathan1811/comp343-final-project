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843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D'Souza" userId="1392a4dab7e9b848" providerId="LiveId" clId="{2AD7512F-CA20-45FF-B08B-FD024A0EA612}"/>
    <pc:docChg chg="custSel addSld delSld modSld sldOrd">
      <pc:chgData name="Nathan D'Souza" userId="1392a4dab7e9b848" providerId="LiveId" clId="{2AD7512F-CA20-45FF-B08B-FD024A0EA612}" dt="2026-09-19T09:51:11.960" v="51" actId="47"/>
      <pc:docMkLst>
        <pc:docMk/>
      </pc:docMkLst>
      <pc:sldChg chg="del">
        <pc:chgData name="Nathan D'Souza" userId="1392a4dab7e9b848" providerId="LiveId" clId="{2AD7512F-CA20-45FF-B08B-FD024A0EA612}" dt="2026-09-19T09:51:11.960" v="51" actId="47"/>
        <pc:sldMkLst>
          <pc:docMk/>
          <pc:sldMk cId="0" sldId="256"/>
        </pc:sldMkLst>
      </pc:sldChg>
      <pc:sldChg chg="delSp modSp mod">
        <pc:chgData name="Nathan D'Souza" userId="1392a4dab7e9b848" providerId="LiveId" clId="{2AD7512F-CA20-45FF-B08B-FD024A0EA612}" dt="2026-09-19T09:08:28.999" v="24" actId="478"/>
        <pc:sldMkLst>
          <pc:docMk/>
          <pc:sldMk cId="0" sldId="257"/>
        </pc:sldMkLst>
        <pc:spChg chg="mod">
          <ac:chgData name="Nathan D'Souza" userId="1392a4dab7e9b848" providerId="LiveId" clId="{2AD7512F-CA20-45FF-B08B-FD024A0EA612}" dt="2026-09-19T09:08:14.832" v="23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Nathan D'Souza" userId="1392a4dab7e9b848" providerId="LiveId" clId="{2AD7512F-CA20-45FF-B08B-FD024A0EA612}" dt="2026-09-19T09:08:28.999" v="24" actId="478"/>
          <ac:spMkLst>
            <pc:docMk/>
            <pc:sldMk cId="0" sldId="257"/>
            <ac:spMk id="32" creationId="{00000000-0000-0000-0000-000000000000}"/>
          </ac:spMkLst>
        </pc:spChg>
      </pc:sldChg>
      <pc:sldChg chg="addSp modSp new mod ord">
        <pc:chgData name="Nathan D'Souza" userId="1392a4dab7e9b848" providerId="LiveId" clId="{2AD7512F-CA20-45FF-B08B-FD024A0EA612}" dt="2026-09-19T09:51:02.333" v="50" actId="1076"/>
        <pc:sldMkLst>
          <pc:docMk/>
          <pc:sldMk cId="4023230893" sldId="264"/>
        </pc:sldMkLst>
        <pc:spChg chg="add mod">
          <ac:chgData name="Nathan D'Souza" userId="1392a4dab7e9b848" providerId="LiveId" clId="{2AD7512F-CA20-45FF-B08B-FD024A0EA612}" dt="2026-09-19T09:50:45.175" v="47" actId="1076"/>
          <ac:spMkLst>
            <pc:docMk/>
            <pc:sldMk cId="4023230893" sldId="264"/>
            <ac:spMk id="5" creationId="{AAD5A0AC-99D3-10C2-AF74-301D37AAD20D}"/>
          </ac:spMkLst>
        </pc:spChg>
        <pc:spChg chg="add mod">
          <ac:chgData name="Nathan D'Souza" userId="1392a4dab7e9b848" providerId="LiveId" clId="{2AD7512F-CA20-45FF-B08B-FD024A0EA612}" dt="2026-09-19T09:50:56.735" v="49" actId="1076"/>
          <ac:spMkLst>
            <pc:docMk/>
            <pc:sldMk cId="4023230893" sldId="264"/>
            <ac:spMk id="9" creationId="{570E0745-965F-73BD-06A4-7538F297CC04}"/>
          </ac:spMkLst>
        </pc:spChg>
        <pc:picChg chg="add mod">
          <ac:chgData name="Nathan D'Souza" userId="1392a4dab7e9b848" providerId="LiveId" clId="{2AD7512F-CA20-45FF-B08B-FD024A0EA612}" dt="2026-09-19T09:51:02.333" v="50" actId="1076"/>
          <ac:picMkLst>
            <pc:docMk/>
            <pc:sldMk cId="4023230893" sldId="264"/>
            <ac:picMk id="3" creationId="{0DD8A3B3-4E7D-082B-21C3-5C6F4E35D001}"/>
          </ac:picMkLst>
        </pc:picChg>
        <pc:picChg chg="add mod">
          <ac:chgData name="Nathan D'Souza" userId="1392a4dab7e9b848" providerId="LiveId" clId="{2AD7512F-CA20-45FF-B08B-FD024A0EA612}" dt="2026-09-19T09:50:24.493" v="45" actId="1076"/>
          <ac:picMkLst>
            <pc:docMk/>
            <pc:sldMk cId="4023230893" sldId="264"/>
            <ac:picMk id="7" creationId="{256EA62A-B53E-9299-556A-7DF3306D8B5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EV_01 to the airport: battery % by step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2% per cell (verified)</c:v>
                </c:pt>
              </c:strCache>
            </c:strRef>
          </c:tx>
          <c:spPr>
            <a:ln w="31750" cap="flat">
              <a:solidFill>
                <a:srgbClr val="1E8E5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33.4</c:v>
                </c:pt>
                <c:pt idx="1">
                  <c:v>31.4</c:v>
                </c:pt>
                <c:pt idx="2">
                  <c:v>29.4</c:v>
                </c:pt>
                <c:pt idx="3">
                  <c:v>27.4</c:v>
                </c:pt>
                <c:pt idx="4">
                  <c:v>21.4</c:v>
                </c:pt>
                <c:pt idx="5">
                  <c:v>19.399999999999999</c:v>
                </c:pt>
                <c:pt idx="6">
                  <c:v>17.399999999999999</c:v>
                </c:pt>
                <c:pt idx="7">
                  <c:v>15.4</c:v>
                </c:pt>
                <c:pt idx="8">
                  <c:v>13.4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D6-459E-917C-5DD3BDDFA5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5% per cell (rejected)</c:v>
                </c:pt>
              </c:strCache>
            </c:strRef>
          </c:tx>
          <c:spPr>
            <a:ln w="31750" cap="flat">
              <a:solidFill>
                <a:srgbClr val="B3261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3261E"/>
              </a:solidFill>
              <a:ln w="9525" cap="flat">
                <a:solidFill>
                  <a:srgbClr val="B3261E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33.4</c:v>
                </c:pt>
                <c:pt idx="1">
                  <c:v>28.4</c:v>
                </c:pt>
                <c:pt idx="2">
                  <c:v>23.4</c:v>
                </c:pt>
                <c:pt idx="3">
                  <c:v>18.399999999999999</c:v>
                </c:pt>
                <c:pt idx="4">
                  <c:v>3.4</c:v>
                </c:pt>
                <c:pt idx="5">
                  <c:v>-1.6</c:v>
                </c:pt>
                <c:pt idx="6">
                  <c:v>-6.6</c:v>
                </c:pt>
                <c:pt idx="7">
                  <c:v>-11.6</c:v>
                </c:pt>
                <c:pt idx="8">
                  <c:v>-16.600000000000001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D6-459E-917C-5DD3BDDFA5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810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8A3B3-4E7D-082B-21C3-5C6F4E35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07" y="1682183"/>
            <a:ext cx="4869220" cy="47425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D5A0AC-99D3-10C2-AF74-301D37AAD20D}"/>
              </a:ext>
            </a:extLst>
          </p:cNvPr>
          <p:cNvSpPr txBox="1"/>
          <p:nvPr/>
        </p:nvSpPr>
        <p:spPr>
          <a:xfrm>
            <a:off x="805207" y="687176"/>
            <a:ext cx="60971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4000" b="1" i="0" dirty="0">
                <a:solidFill>
                  <a:schemeClr val="tx1"/>
                </a:solidFill>
                <a:effectLst/>
                <a:latin typeface="+mn-lt"/>
              </a:rPr>
              <a:t>Autonomous EV Routing</a:t>
            </a:r>
            <a:endParaRPr lang="en-IN" sz="4000" b="1" i="0" dirty="0">
              <a:solidFill>
                <a:srgbClr val="FAFAFA"/>
              </a:solidFill>
              <a:effectLst/>
              <a:latin typeface="Source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6EA62A-B53E-9299-556A-7DF3306D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39" y="1909761"/>
            <a:ext cx="4435755" cy="44845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0E0745-965F-73BD-06A4-7538F297CC04}"/>
              </a:ext>
            </a:extLst>
          </p:cNvPr>
          <p:cNvSpPr txBox="1"/>
          <p:nvPr/>
        </p:nvSpPr>
        <p:spPr>
          <a:xfrm>
            <a:off x="626092" y="6394350"/>
            <a:ext cx="6097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 ·  KREA University  ·  Capstone demo, 19 Sep 2026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323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1228" y="1978302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" y="2197758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0684" y="21977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00684" y="270982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00684" y="305729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llm_parser.py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00684" y="339562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→ structured task: vehicle, destination, battery use per cell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95828" y="197830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51860" y="1978302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671316" y="2197758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1316" y="21977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71316" y="270982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71316" y="305729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pathfinding.py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71316" y="339562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on a 10×10 grid; toll cells cost 3× battery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66460" y="197830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22492" y="1978302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1948" y="2197758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1948" y="21977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1948" y="270982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1948" y="305729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verifier.py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1948" y="339562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proves the battery never drops below 0 on the route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737092" y="1978302"/>
            <a:ext cx="256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93124" y="1978302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9212580" y="2197758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12580" y="21977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12580" y="2709822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12580" y="3057294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orchestrator.py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12580" y="339562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car drives, DB updated. Rejected: car stays put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81228" y="472150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" y="4507992"/>
            <a:ext cx="3425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081772" y="4507992"/>
            <a:ext cx="3425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parsing, and the manual 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EV-02 to the supermarket. It uses 2% battery per cell.”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gpt-5-mini in JSON mode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227832"/>
            <a:ext cx="4709160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319272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"vehicle_id": "EV_02",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"destination": "SUPERMARKET",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"drain_per_cell": 2.0 }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/>
              <a:t>LLM-based parser with a strict JSON schema to convert operator instructions into structured parameters such as vehicle ID, destination, and battery drain.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286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to drive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56248" y="257860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EV_02  ▾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906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3383280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3383280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/ SUPERMARKET  ▾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8953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use per cell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4187952"/>
            <a:ext cx="4709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5D8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4187952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slider, 0.5 to 10 %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7457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69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meet at  </a:t>
            </a:r>
            <a:r>
              <a:rPr lang="en-US" sz="1300" b="1" dirty="0" err="1">
                <a:solidFill>
                  <a:srgbClr val="0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plan_trip</a:t>
            </a:r>
            <a:r>
              <a:rPr lang="en-US" sz="1300" b="1" dirty="0">
                <a:solidFill>
                  <a:srgbClr val="0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 err="1">
                <a:solidFill>
                  <a:srgbClr val="0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vehicle_id</a:t>
            </a:r>
            <a:r>
              <a:rPr lang="en-US" sz="1300" b="1" dirty="0">
                <a:solidFill>
                  <a:srgbClr val="0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b="1" dirty="0" err="1">
                <a:solidFill>
                  <a:srgbClr val="0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drain_per_cell</a:t>
            </a:r>
            <a:r>
              <a:rPr lang="en-US" sz="1300" b="1" dirty="0">
                <a:solidFill>
                  <a:srgbClr val="0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destination)</a:t>
            </a: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A*  →  Z3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g(n) + h(n)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414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heuristic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7063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overestimates on a 4-connected grid, so the route found is optimal.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3375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Terrain-weighted cost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6674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 toll cell costs 3× battery.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336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obstacles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56285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parked cars block cells while planning. Destinations are never blocked.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05740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83464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7947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09651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48056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8BF7A9A-A6A6-00CB-F685-3E5EAD2DE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724" y="736073"/>
            <a:ext cx="5162588" cy="5257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/ SMT: proof that the battery never hits zero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6022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973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b[0] = battery in DB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b[i] = b[i-1] - drain * cost(cell[i])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b[i] &gt;= 0   for every step 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5192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166360" y="1417320"/>
          <a:ext cx="6473952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166360" y="5029200"/>
            <a:ext cx="6473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5% per cell the car runs flat at cell (7, 3), step 5 of 8.</a:t>
            </a:r>
            <a:endParaRPr lang="en-US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111A0-0FE8-4761-0C58-61956D1010B5}"/>
              </a:ext>
            </a:extLst>
          </p:cNvPr>
          <p:cNvSpPr txBox="1"/>
          <p:nvPr/>
        </p:nvSpPr>
        <p:spPr>
          <a:xfrm>
            <a:off x="548640" y="3668520"/>
            <a:ext cx="47336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Z3/SMT formally verifies that battery levels remain non-negative at every step of the route.</a:t>
            </a:r>
          </a:p>
          <a:p>
            <a:r>
              <a:rPr lang="en-IN" sz="1100" dirty="0"/>
              <a:t>If negative its just calculates the path while the car stays put.</a:t>
            </a:r>
            <a:br>
              <a:rPr lang="en-IN" sz="1100" dirty="0"/>
            </a:br>
            <a:endParaRPr lang="en-IN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car, same route, two verdicts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output, map seed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EV-01 to the airport, 2% per cell”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15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 route  (7,8) -&gt; (7,0)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steps, 1 toll cell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Route exists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Battery reaches airport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 33.4%, needs 20.0%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arrives with 13.4%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PLAN VERIFIED (SAFE)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4709160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00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drives to the airport. Task becomes COMPLETED in the database.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76479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764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286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EV-01 to the airport, 5% per cell”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715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 route  (7,8) -&gt; (7,0)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steps, 1 toll cell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2461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Route exists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Battery reaches airport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 33.4%, needs 50.0%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16.6% short, flat at (7,3)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206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PLAN REJECTED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4663440"/>
            <a:ext cx="4709160" cy="0"/>
          </a:xfrm>
          <a:prstGeom prst="line">
            <a:avLst/>
          </a:prstGeom>
          <a:noFill/>
          <a:ln w="12700">
            <a:solidFill>
              <a:srgbClr val="D5D8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8006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stays put. Task becomes REJECTED and the event is logged.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9">
            <a:extLst>
              <a:ext uri="{FF2B5EF4-FFF2-40B4-BE49-F238E27FC236}">
                <a16:creationId xmlns:a16="http://schemas.microsoft.com/office/drawing/2014/main" id="{514B7CC2-0566-6BA3-48AE-55E1A6290E0F}"/>
              </a:ext>
            </a:extLst>
          </p:cNvPr>
          <p:cNvSpPr/>
          <p:nvPr/>
        </p:nvSpPr>
        <p:spPr>
          <a:xfrm>
            <a:off x="6096000" y="1525941"/>
            <a:ext cx="4983174" cy="3626457"/>
          </a:xfrm>
          <a:prstGeom prst="roundRect">
            <a:avLst>
              <a:gd name="adj" fmla="val 170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US" sz="125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8BDBCDA7-C2D1-D921-D213-88DFD7BBB22C}"/>
              </a:ext>
            </a:extLst>
          </p:cNvPr>
          <p:cNvSpPr/>
          <p:nvPr/>
        </p:nvSpPr>
        <p:spPr>
          <a:xfrm>
            <a:off x="433336" y="1525941"/>
            <a:ext cx="4983174" cy="3626457"/>
          </a:xfrm>
          <a:prstGeom prst="roundRect">
            <a:avLst>
              <a:gd name="adj" fmla="val 170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535BC-B9A7-DA23-DE82-D3E99F4C9DD5}"/>
              </a:ext>
            </a:extLst>
          </p:cNvPr>
          <p:cNvSpPr txBox="1"/>
          <p:nvPr/>
        </p:nvSpPr>
        <p:spPr>
          <a:xfrm>
            <a:off x="447897" y="677147"/>
            <a:ext cx="94350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layer: what it guards, where it grows</a:t>
            </a:r>
            <a:endParaRPr lang="en-US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294E3B6-FD05-1039-FB71-4049FE9E5A74}"/>
              </a:ext>
            </a:extLst>
          </p:cNvPr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60199A3-998C-48BF-4868-97BB74D8F1B4}"/>
              </a:ext>
            </a:extLst>
          </p:cNvPr>
          <p:cNvSpPr txBox="1"/>
          <p:nvPr/>
        </p:nvSpPr>
        <p:spPr>
          <a:xfrm>
            <a:off x="822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758BFC6-BE6B-91B2-0139-A0F5A91917D3}"/>
              </a:ext>
            </a:extLst>
          </p:cNvPr>
          <p:cNvSpPr txBox="1"/>
          <p:nvPr/>
        </p:nvSpPr>
        <p:spPr>
          <a:xfrm>
            <a:off x="1371600" y="1828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7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80060CC-8869-E0E9-AF6C-631CE31D1F63}"/>
              </a:ext>
            </a:extLst>
          </p:cNvPr>
          <p:cNvSpPr txBox="1"/>
          <p:nvPr/>
        </p:nvSpPr>
        <p:spPr>
          <a:xfrm>
            <a:off x="822960" y="2609268"/>
            <a:ext cx="4709160" cy="34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Route exists, also rejects plans where A* cannot find a path</a:t>
            </a:r>
            <a:endParaRPr lang="en-US" sz="12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6199514-A557-8795-5034-312068AAD1B0}"/>
              </a:ext>
            </a:extLst>
          </p:cNvPr>
          <p:cNvSpPr txBox="1"/>
          <p:nvPr/>
        </p:nvSpPr>
        <p:spPr>
          <a:xfrm>
            <a:off x="822960" y="3072991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Battery ≥ 0 on every step, proven by Z3</a:t>
            </a:r>
            <a:endParaRPr lang="en-US" sz="12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9A614C9-6119-3CDD-38CD-66D52984A90D}"/>
              </a:ext>
            </a:extLst>
          </p:cNvPr>
          <p:cNvSpPr txBox="1"/>
          <p:nvPr/>
        </p:nvSpPr>
        <p:spPr>
          <a:xfrm>
            <a:off x="815680" y="3494709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Rejected plans never move a car</a:t>
            </a:r>
            <a:endParaRPr lang="en-US" sz="125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15ACDA4-96FA-A2D8-E6B1-E22F0B43E114}"/>
              </a:ext>
            </a:extLst>
          </p:cNvPr>
          <p:cNvSpPr txBox="1"/>
          <p:nvPr/>
        </p:nvSpPr>
        <p:spPr>
          <a:xfrm>
            <a:off x="815680" y="3875071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plan is logged to SQLite and shown on the dashboard</a:t>
            </a:r>
            <a:endParaRPr lang="en-US" sz="125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F60DA74E-3974-F520-E70A-0A00BAB1A056}"/>
              </a:ext>
            </a:extLst>
          </p:cNvPr>
          <p:cNvSpPr/>
          <p:nvPr/>
        </p:nvSpPr>
        <p:spPr>
          <a:xfrm>
            <a:off x="6446520" y="182880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4FECEED0-C22C-1555-2DAB-1BB632D9ACFB}"/>
              </a:ext>
            </a:extLst>
          </p:cNvPr>
          <p:cNvSpPr txBox="1"/>
          <p:nvPr/>
        </p:nvSpPr>
        <p:spPr>
          <a:xfrm>
            <a:off x="6446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DDAB3506-BE25-1070-62A0-8927A5EE0485}"/>
              </a:ext>
            </a:extLst>
          </p:cNvPr>
          <p:cNvSpPr txBox="1"/>
          <p:nvPr/>
        </p:nvSpPr>
        <p:spPr>
          <a:xfrm>
            <a:off x="6995160" y="1828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Next extensions</a:t>
            </a:r>
            <a:endParaRPr lang="en-US" sz="1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5376D-14DB-375E-758A-631AD1D21223}"/>
              </a:ext>
            </a:extLst>
          </p:cNvPr>
          <p:cNvSpPr txBox="1"/>
          <p:nvPr/>
        </p:nvSpPr>
        <p:spPr>
          <a:xfrm>
            <a:off x="6338190" y="2466921"/>
            <a:ext cx="609502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EV chargers along the route</a:t>
            </a:r>
            <a:endParaRPr lang="en-US" sz="125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BCCCD3F7-D631-2F63-8DE0-DCC70649D55C}"/>
              </a:ext>
            </a:extLst>
          </p:cNvPr>
          <p:cNvSpPr txBox="1"/>
          <p:nvPr/>
        </p:nvSpPr>
        <p:spPr>
          <a:xfrm>
            <a:off x="6446520" y="2909099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On rejection, propose a new plan and re-verify</a:t>
            </a:r>
            <a:endParaRPr lang="en-US" sz="12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55ED14-3668-17FD-6352-336B058AAD9C}"/>
              </a:ext>
            </a:extLst>
          </p:cNvPr>
          <p:cNvSpPr txBox="1"/>
          <p:nvPr/>
        </p:nvSpPr>
        <p:spPr>
          <a:xfrm>
            <a:off x="6338190" y="3242690"/>
            <a:ext cx="621733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Conflict rules: when two cars compete for a cell</a:t>
            </a:r>
            <a:endParaRPr lang="en-US" sz="12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D91683-8831-725C-F54F-3B176D5BFFBB}"/>
              </a:ext>
            </a:extLst>
          </p:cNvPr>
          <p:cNvSpPr txBox="1"/>
          <p:nvPr/>
        </p:nvSpPr>
        <p:spPr>
          <a:xfrm>
            <a:off x="6338190" y="3876112"/>
            <a:ext cx="627691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RL-based multi-objective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with time constraints</a:t>
            </a:r>
            <a:endParaRPr lang="en-US" sz="12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221654-B65C-D8A9-89DE-95282D4FFAED}"/>
              </a:ext>
            </a:extLst>
          </p:cNvPr>
          <p:cNvSpPr txBox="1"/>
          <p:nvPr/>
        </p:nvSpPr>
        <p:spPr>
          <a:xfrm>
            <a:off x="6338190" y="3583652"/>
            <a:ext cx="45753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dirty="0"/>
              <a:t>• Implementation of Stochasticity in the Environment </a:t>
            </a:r>
          </a:p>
          <a:p>
            <a:endParaRPr lang="en-IN" sz="1250" dirty="0"/>
          </a:p>
        </p:txBody>
      </p:sp>
    </p:spTree>
    <p:extLst>
      <p:ext uri="{BB962C8B-B14F-4D97-AF65-F5344CB8AC3E}">
        <p14:creationId xmlns:p14="http://schemas.microsoft.com/office/powerpoint/2010/main" val="2744110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661</Words>
  <Application>Microsoft Office PowerPoint</Application>
  <PresentationFormat>Widescreen</PresentationFormat>
  <Paragraphs>100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Source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Nathan D'Souza</cp:lastModifiedBy>
  <cp:revision>3</cp:revision>
  <dcterms:created xsi:type="dcterms:W3CDTF">2026-09-19T06:47:21Z</dcterms:created>
  <dcterms:modified xsi:type="dcterms:W3CDTF">2026-09-19T09:51:17Z</dcterms:modified>
</cp:coreProperties>
</file>